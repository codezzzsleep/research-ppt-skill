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先讲清楚通用 GAD 和传统 GAD 的区别：训练一次、处处可用；推理时只需要少量带标签的支撑集，不更新参数。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这一页是两篇论文的共同出发点：第一篇攻击“特征怎么对齐”，第二篇攻击“训练数据从哪来”。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图里每一行是一个方法，柱子是预训练相对免训练版本的增益。右侧括号是负迁移:正迁移的数据集个数。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(b) 的三组柱子：76.56→64.72，74.28→52.81，66.93→57.43。说明可迁移的是“邻域一致性”这类先验，而不是 PCA 后的特征。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左半部分把任意图的节点都变成 5 维指纹；右半部分是在指纹上学习的检测模型。下面两页分别展开。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强调：不管原始特征是词袋还是统计量，算出来的都是“节点和上下文的关系”，所以语义天然一致。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SNR 的直觉：异常中心和正常中心差得越远、正常样本方差越小，这一维越有用。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两组数据集交替做训练集和测试集。Group 2 上提升 13 个点，是最能说明“可迁移”的证据。也要老实说：Amazon 上不如 IA-GGAD。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 2 只列了 Group 2 的 7 个数据集，所以这里是 −24.10 / −0.88；正文的 20.39% / 0.70% 是附录 Table 8 全部 14 个数据集的结果（85.08 vs 64.69 / 84.38）。两者一致，引用时注明统计范围。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图里四个现有方法的两根柱子几乎一样高，只有作者的新模型在合成数据上明显更好。这引出两个贡献：数据生成器 + 更强的模型。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上半部分是数据怎么造，下半部分是模型怎么学。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δ 很关键：既用来造不同难度的数据，又被后面的课程学习用来排序。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拓扑流基本就是第一篇的 ReFi；新增的是语义流和门控，以及为大规模合成数据设计的课程学习。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关键信息：合成数据本身不吃亏，但要有更强的模型才能吃到红利。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两篇论文的联系在这一页最清楚：去掉第一篇的指纹（拓扑流），性能掉 20 个点。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第二篇里 ReFi-GAD 为 81.22，低于第一篇自报的 85.08。两篇的支撑集大小不同（50 vs 30），差异可能与此有关，但论文没有单独验证。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这一页是给老师和同学讨论用的，不是挑错：三点都可以作为我们后续工作的切入点。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b="1" spc="200" kern="0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方向概览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3200400" cy="841248"/>
          </a:xfrm>
          <a:prstGeom prst="rect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463040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传统 GAD</a:t>
            </a:r>
            <a:endParaRPr lang="en-US" sz="1600" dirty="0"/>
          </a:p>
          <a:p>
            <a:pPr algn="ctr" indent="0" marL="0">
              <a:buNone/>
            </a:pPr>
            <a:r>
              <a:rPr lang="zh-CN" altLang="en-US" sz="1200" dirty="0">
                <a:solidFill>
                  <a:srgbClr val="D1C9E7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每张图单独训练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57400" y="2350008"/>
            <a:ext cx="0" cy="21945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" y="2615184"/>
            <a:ext cx="3200400" cy="841248"/>
          </a:xfrm>
          <a:prstGeom prst="rect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615184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 GAD</a:t>
            </a:r>
            <a:endParaRPr lang="en-US" sz="1600" dirty="0"/>
          </a:p>
          <a:p>
            <a:pPr algn="ctr" indent="0" marL="0">
              <a:buNone/>
            </a:pPr>
            <a:r>
              <a:rPr lang="zh-CN" altLang="en-US" sz="1200" dirty="0">
                <a:solidFill>
                  <a:srgbClr val="D1C9E7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训练一次，迁移到新图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57400" y="3502152"/>
            <a:ext cx="0" cy="21945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3767328"/>
            <a:ext cx="3200400" cy="841248"/>
          </a:xfrm>
          <a:prstGeom prst="rect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3767328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两个瓶颈</a:t>
            </a:r>
            <a:endParaRPr lang="en-US" sz="1600" dirty="0"/>
          </a:p>
          <a:p>
            <a:pPr algn="ctr" indent="0" marL="0">
              <a:buNone/>
            </a:pPr>
            <a:r>
              <a:rPr lang="zh-CN" altLang="en-US" sz="1200" dirty="0">
                <a:solidFill>
                  <a:srgbClr val="D1C9E7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特征异质 · 数据稀缺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57400" y="4654296"/>
            <a:ext cx="0" cy="21945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4919472"/>
            <a:ext cx="1527048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4919472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</a:t>
            </a:r>
            <a:endParaRPr lang="en-US" sz="1400" dirty="0"/>
          </a:p>
          <a:p>
            <a:pPr algn="ctr" indent="0" marL="0">
              <a:buNone/>
            </a:pPr>
            <a:r>
              <a:rPr lang="zh-CN" altLang="en-US" sz="1050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关系指纹对齐特征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130552" y="4919472"/>
            <a:ext cx="1527048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85416" y="4919472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</a:t>
            </a:r>
            <a:endParaRPr lang="en-US" sz="1400" dirty="0"/>
          </a:p>
          <a:p>
            <a:pPr algn="ctr" indent="0" marL="0">
              <a:buNone/>
            </a:pPr>
            <a:r>
              <a:rPr lang="zh-CN" altLang="en-US" sz="1050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合成数据训练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035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Generalist GAD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1005840"/>
            <a:ext cx="7162495" cy="133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40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通用图异常检测：</a:t>
            </a:r>
            <a:endParaRPr lang="en-US" sz="4000" dirty="0"/>
          </a:p>
          <a:p>
            <a:pPr algn="l" indent="0" marL="0">
              <a:buNone/>
            </a:pPr>
            <a:r>
              <a:rPr lang="zh-CN" altLang="en-US" sz="40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从特征对齐到合成数据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572000" y="2409952"/>
            <a:ext cx="7162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两篇 Generalist GAD 论文精读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4572000" y="3141472"/>
            <a:ext cx="822960" cy="73152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370072"/>
            <a:ext cx="7162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 · Relational Fingerprints (ICML 2026)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0" y="3781552"/>
            <a:ext cx="7162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 + TS-GGAD · Synthetic Training (arXiv 2026)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72000" y="5303520"/>
            <a:ext cx="6858000" cy="36576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5486400"/>
            <a:ext cx="7162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汇 报 人：</a:t>
            </a:r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张三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0" y="5897880"/>
            <a:ext cx="7162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论文作者：</a:t>
            </a:r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Griffith University &amp; 同济大学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0" y="6309360"/>
            <a:ext cx="7162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汇报时间：</a:t>
            </a:r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2026 年 10 月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17556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63677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6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2212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09397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6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554480" y="2670048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255117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动机：负迁移从何而来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554480" y="3054096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293522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方法：关系指纹与模型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554480" y="343814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31927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实验：性能与消融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38221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6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554480" y="427939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0" y="41605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动机：真实数据之困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554480" y="4663440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1828800" y="45445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方法：合成流水线与 TS-GGAD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554480" y="5047488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0" y="492861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实验：性能与消融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77240" y="5431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531266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6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77240" y="58887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576986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6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688336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5146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32552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0815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8221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6484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77240" y="43891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215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77240" y="49560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7823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通用图异常检测：问题设定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Rethinking Feature Alignment in Generalist GAD, ICML 2026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问题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背景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Conventional GAD needs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dataset-specific training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on every new graph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Generalist GAD trains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one detector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on source graphs and deploys it on unseen graphs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85800" y="267434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63548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传统 GAD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Dataset-specific GAD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71600" y="312659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308354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每张图单独训练，且需要完整访问目标图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371600" y="349235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8" name="Text 15"/>
          <p:cNvSpPr/>
          <p:nvPr/>
        </p:nvSpPr>
        <p:spPr>
          <a:xfrm>
            <a:off x="1645920" y="344930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隐私敏感、时效要求高的场景难以部署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5800" y="395450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391564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 GAD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Generalist GAD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371600" y="440675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2" name="Text 19"/>
          <p:cNvSpPr/>
          <p:nvPr/>
        </p:nvSpPr>
        <p:spPr>
          <a:xfrm>
            <a:off x="1645920" y="436370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在多张源图上预训练，目标图上不重训、不微调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371600" y="477251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4" name="Text 21"/>
          <p:cNvSpPr/>
          <p:nvPr/>
        </p:nvSpPr>
        <p:spPr>
          <a:xfrm>
            <a:off x="1645920" y="472946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推理时只给少量带标签的正常 / 异常节点作为支撑集（few-shot support set）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85800" y="523466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5840" y="519580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代表方法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Representative methods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371600" y="568691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8" name="Text 25"/>
          <p:cNvSpPr/>
          <p:nvPr/>
        </p:nvSpPr>
        <p:spPr>
          <a:xfrm>
            <a:off x="1645920" y="564386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ARC (NeurIPS'24) · UNPrompt (IJCAI'25) · AnomalyGFM (KDD'25) · IA-GGAD (NeurIPS'25)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现有通用 GAD 方法速览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来源：两篇论文的相关工作部分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现有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Existing methods differ in the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transfer mechanism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but share the same input pipeline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71323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方法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发表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核心思路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ARC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NeurIPS'24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把 GAD 看作少样本问题：上下文学习 + 基于平滑度的特征对齐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AnomalyGFM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KDD'25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预训练-微调范式，原型对齐，支持零样本推理与提示微调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UNPrompt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IJCAI'25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统一邻域提示（neighborhood prompt），把异质图信息标准化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IA-GGAD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NeurIPS'25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学习域不变特征与结构对应关系，提升迁移鲁棒性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共同点：特征对齐依赖 PCA / SVD 线性降维；训练数据只有 1–7 个真实数据集（合计约 9 万节点）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Both papers start from this shared pipeline: PCA aligns dimensions but not semantics (→ ReFi-GAD), and real training data is too scarce to scale (→ AG-Forge).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554480" y="3118104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29626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动机：负迁移从何而来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54480" y="3575304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4198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方法：关系指纹与模型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032504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8770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实验：性能与消融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45079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3342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554480" y="3118104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29626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动机：负迁移从何而来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54480" y="357530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4198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方法：关系指纹与模型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03250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8770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实验：性能与消融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45079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3342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现象：预训练反而带来负迁移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Rethinking Feature Alignment in Generalist GAD, ICML 2026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问题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描述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After source-graph pre-training, existing generalist models show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negative transfer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on many unseen graphs</a:t>
            </a:r>
            <a:endParaRPr lang="en-US" sz="1700" dirty="0"/>
          </a:p>
        </p:txBody>
      </p:sp>
      <p:pic>
        <p:nvPicPr>
          <p:cNvPr id="13" name="Image 0" descr="/tmp/rr-demo/figs/refi_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53188"/>
            <a:ext cx="4095788" cy="336958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2553188"/>
            <a:ext cx="4095788" cy="3369584"/>
          </a:xfrm>
          <a:prstGeom prst="rect">
            <a:avLst/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" y="5968492"/>
            <a:ext cx="4461548" cy="41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 Fig. 1：预训练带来的 AUROC 增益（绿 = 正迁移，红 = 负迁移）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10188" y="3163941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330228" y="3132826"/>
            <a:ext cx="6358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四个代表方法普遍负迁移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695988" y="3579612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9" name="Text 15"/>
          <p:cNvSpPr/>
          <p:nvPr/>
        </p:nvSpPr>
        <p:spPr>
          <a:xfrm>
            <a:off x="5970308" y="3544306"/>
            <a:ext cx="571846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14 个数据集中有 7–9 个变差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695988" y="3908796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1" name="Text 17"/>
          <p:cNvSpPr/>
          <p:nvPr/>
        </p:nvSpPr>
        <p:spPr>
          <a:xfrm>
            <a:off x="5970308" y="3873490"/>
            <a:ext cx="571846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UNPrompt、AnomalyGFM 平均增益为负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010188" y="4352661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30228" y="4321546"/>
            <a:ext cx="6358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ReFi-GAD：12 个正迁移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5695988" y="4768332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5" name="Text 21"/>
          <p:cNvSpPr/>
          <p:nvPr/>
        </p:nvSpPr>
        <p:spPr>
          <a:xfrm>
            <a:off x="5970308" y="4733026"/>
            <a:ext cx="571846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平均增益 +4.67%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5010188" y="5212197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330228" y="5181082"/>
            <a:ext cx="6358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作者的判断</a:t>
            </a:r>
            <a:endParaRPr lang="en-US" sz="1700" dirty="0"/>
          </a:p>
        </p:txBody>
      </p:sp>
      <p:sp>
        <p:nvSpPr>
          <p:cNvPr id="28" name="Shape 24"/>
          <p:cNvSpPr/>
          <p:nvPr/>
        </p:nvSpPr>
        <p:spPr>
          <a:xfrm>
            <a:off x="5695988" y="5627868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9" name="Text 25"/>
          <p:cNvSpPr/>
          <p:nvPr/>
        </p:nvSpPr>
        <p:spPr>
          <a:xfrm>
            <a:off x="5970308" y="5592562"/>
            <a:ext cx="571846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现有方法的效果主要来自架构设计，而非预训练学到的知识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1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根因：PCA 只对齐了维度，没对齐语义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Rethinking Feature Alignment in Generalist GAD, ICML 2026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核心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洞察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PCA matches feature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dimensionality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, not feature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semantics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What transfers is the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architectural prior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, e.g. neighborhood consistency</a:t>
            </a:r>
            <a:endParaRPr lang="en-US" sz="1700" dirty="0"/>
          </a:p>
        </p:txBody>
      </p:sp>
      <p:pic>
        <p:nvPicPr>
          <p:cNvPr id="13" name="Image 0" descr="/tmp/rr-demo/figs/refi_fi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865468"/>
            <a:ext cx="6035040" cy="29030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2865468"/>
            <a:ext cx="6035040" cy="2903012"/>
          </a:xfrm>
          <a:prstGeom prst="rect">
            <a:avLst/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" y="58142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 论文 Fig. 2：(a) PCA 对齐后的 t-SNE；(b) 免训练版本去掉邻域一致性后的 AUROC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949440" y="3132445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269480" y="310133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(a) 对齐后仍按数据集成簇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7635240" y="3548116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9" name="Text 15"/>
          <p:cNvSpPr/>
          <p:nvPr/>
        </p:nvSpPr>
        <p:spPr>
          <a:xfrm>
            <a:off x="7909560" y="3512810"/>
            <a:ext cx="3779215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Cora 是高维稀疏词袋，YelpChi 是低维稠密统计量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949440" y="4188069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269480" y="4156954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(b) 去掉邻域一致性，性能明显下降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7635240" y="4603740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3" name="Text 19"/>
          <p:cNvSpPr/>
          <p:nvPr/>
        </p:nvSpPr>
        <p:spPr>
          <a:xfrm>
            <a:off x="7909560" y="4568434"/>
            <a:ext cx="3779215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三种免训练方法平均 AUROC 下降 9.5–21.5 个点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949440" y="5243693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269480" y="5212578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由此引出的问题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7635240" y="5659364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7" name="Text 23"/>
          <p:cNvSpPr/>
          <p:nvPr/>
        </p:nvSpPr>
        <p:spPr>
          <a:xfrm>
            <a:off x="7909560" y="5624058"/>
            <a:ext cx="377921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能否把异常线索本身直接提取成可迁移特征？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554480" y="311810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29626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动机：负迁移从何而来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54480" y="3575304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4198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方法：关系指纹与模型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03250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8770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实验：性能与消融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45079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3342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 整体框架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Rethinking Feature Alignment in Generalist GAD, ICML 2026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核心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思想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Replace raw features with a 5-dim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relational fingerprint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, then learn shared and domain-adaptive representations</a:t>
            </a:r>
            <a:endParaRPr lang="en-US" sz="1700" dirty="0"/>
          </a:p>
        </p:txBody>
      </p:sp>
      <p:pic>
        <p:nvPicPr>
          <p:cNvPr id="13" name="Image 0" descr="/tmp/rr-demo/figs/refi_frame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95" y="2553188"/>
            <a:ext cx="10018106" cy="3527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86795" y="2553188"/>
            <a:ext cx="10018106" cy="3527572"/>
          </a:xfrm>
          <a:prstGeom prst="rect">
            <a:avLst/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86795" y="6126480"/>
            <a:ext cx="100181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 论文 Fig. 3：关系指纹提取 → 域共享编码 → 域自适应细化 → 异常打分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关系指纹 ReFi：五个维度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Rethinking Feature Alignment in Generalist GAD, ICML 2026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核心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原理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Each node is described by its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relation to context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, not by its raw feature values</a:t>
            </a:r>
            <a:endParaRPr lang="en-US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05840"/>
                <a:gridCol w="4572000"/>
                <a:gridCol w="28346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维度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类型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计算方式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异常信号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NP 邻域位置一致性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上下文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相似度加权图卷积后，与邻居的平均欧氏距离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越大越偏离局部社区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ND 邻域方向一致性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上下文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与邻居的平均余弦相似度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越小越不同质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GD 全局方向一致性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上下文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两阶图卷积后，与全图中心的余弦相似度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越小越像全局离群点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d 度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结构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邻接矩阵按行求和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过高（枢纽）或过低（孤立）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LC 局部聚类系数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结构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2T / [d(d−1)]，T 为所在三角形数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反映所在社区的紧密程度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统一处理：每一维做排名变换 r(m) = rank(m) / n，消除不同图之间的数值尺度差异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Rank-normalized relational statistics give every graph the same 5-dim, semantically consistent input space, which is exactly what PCA could not provide.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模型：域共享编码 + SNR 自适应细化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Rethinking Feature Alignment in Generalist GAD, ICML 2026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模型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结构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 context-aware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Transformer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learns shared patterns;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SNR weighting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adapts dimensions to each target graph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85800" y="267434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63548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域共享编码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Domain-shared encoding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71600" y="312659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308354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单层 MLP 把 5 维 ReFi 投影到高维，再送入 Transformer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371600" y="349235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8" name="Text 15"/>
          <p:cNvSpPr/>
          <p:nvPr/>
        </p:nvSpPr>
        <p:spPr>
          <a:xfrm>
            <a:off x="1645920" y="344930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注意力掩码：支撑节点互相可见，查询节点只看支撑集和自己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5800" y="395450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391564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SNR 域自适应细化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SNR-guided refinement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371600" y="440675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2" name="Text 19"/>
          <p:cNvSpPr/>
          <p:nvPr/>
        </p:nvSpPr>
        <p:spPr>
          <a:xfrm>
            <a:off x="1645920" y="436370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逐维信噪比 s = (h_a − h_n)² / σ_n²，衡量每一维的区分度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371600" y="477251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4" name="Text 21"/>
          <p:cNvSpPr/>
          <p:nvPr/>
        </p:nvSpPr>
        <p:spPr>
          <a:xfrm>
            <a:off x="1645920" y="472946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权重 m = σ(λs + β) 对表示重新加权，突出当前图的关键维度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85800" y="523466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5840" y="519580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打分与训练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Scoring &amp; training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371600" y="568691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8" name="Text 25"/>
          <p:cNvSpPr/>
          <p:nvPr/>
        </p:nvSpPr>
        <p:spPr>
          <a:xfrm>
            <a:off x="1645920" y="564386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与异常 / 正常支撑节点的相似度之差作为异常分数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1371600" y="605267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30" name="Text 27"/>
          <p:cNvSpPr/>
          <p:nvPr/>
        </p:nvSpPr>
        <p:spPr>
          <a:xfrm>
            <a:off x="1645920" y="600962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源图上按 episode 训练（BCE 损失），目标图上不更新参数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554480" y="311810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29626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动机：负迁移从何而来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54480" y="357530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4198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方法：关系指纹与模型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032504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8770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实验：性能与消融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45079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3342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主实验：14 个数据集 AUROC (%)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Rethinking Feature Alignment in Generalist GAD, ICML 2026；平均值由论文 Table 1 计算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结果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 ranks first on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13 of 14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datasets, +7.39 AUROC over the strongest baseline</a:t>
            </a:r>
            <a:endParaRPr lang="en-US" sz="1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286000"/>
                <a:gridCol w="1691640"/>
                <a:gridCol w="1691640"/>
                <a:gridCol w="1691640"/>
                <a:gridCol w="16916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方法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类型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Group 1 平均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Group 2 平均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14 集平均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平均排名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SmoothGNN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传统 GAD 中最强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71.66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67.37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69.52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5.43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ARC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通用 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81.25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69.71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75.48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3.50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AnomalyGFM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通用 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44.67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52.27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48.47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12.21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UNPrompt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通用 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67.19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64.83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66.01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5.93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IA-GGAD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通用 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u="sng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84.93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u="sng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70.44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u="sng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77.69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u="sng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2.86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ReFi-GAD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本文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86.76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83.41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85.08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1.14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The gain is largest on Group 2 (83.41 vs 70.44), the harder transfer direction, so the fingerprint carries knowledge that PCA features cannot; Amazon is the one exception (71.21 vs 82.49).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消融与跨域分析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Rethinking Feature Alignment in Generalist GAD, ICML 2026；Table 2–4 与 Fig. 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消融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分析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Almost all of the gain comes from the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fingerprint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itself; SNR refinement adds a small extra</a:t>
            </a:r>
            <a:endParaRPr lang="en-US" sz="1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553188"/>
          <a:ext cx="1118585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291840"/>
                <a:gridCol w="2377440"/>
                <a:gridCol w="3017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实验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设置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平均 AUROC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结论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384048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模块消融（Group 2）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w/o R：用 PCA 代替 ReFi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59.31（−24.10）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ReFi 是性能的主要来源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w/o D：去掉 SNR 细化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82.53（−0.88）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细化模块带来小幅增益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完整 ReFi-GAD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83.41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—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单维度消融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分别去掉 5 维之一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80.52 – 82.54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五个维度互补，缺一不可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完全跨域（引文域为目标）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IA-GGAD → ReFi-GAD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90.55 → 95.32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跨域场景下优势仍在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预训练增益（同上设定）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现有方法 → ReFi-GAD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−10.79% ~ −0.11% → +4.15%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只有 ReFi-GAD 是正迁移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The fingerprint is the real contribution: swapping it for PCA erases almost the whole gain, while the SNR module only fine-tunes an already transferable representation.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136392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962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554480" y="3685032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5295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动机：真实数据之困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142232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9867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方法：合成流水线与 TS-GGAD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4599432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4439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实验：性能与消融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136392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962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554480" y="3685032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5295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动机：真实数据之困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14223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9867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方法：合成流水线与 TS-GGAD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459943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4439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实验：性能与消融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现象：真实训练数据太少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Is Real-World Training Data Necessary for Generalist GAD?, arXiv:2610.12167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问题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描述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Real GAD training data is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scarce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: 1–7 datasets, about 90k nodes in total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Can a generalist detector be trained on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synthetic graphs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only?</a:t>
            </a:r>
            <a:endParaRPr lang="en-US" sz="1700" dirty="0"/>
          </a:p>
        </p:txBody>
      </p:sp>
      <p:pic>
        <p:nvPicPr>
          <p:cNvPr id="13" name="Image 0" descr="/tmp/rr-demo/figs/forge_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53188"/>
            <a:ext cx="3723587" cy="336958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2553188"/>
            <a:ext cx="3723587" cy="3369584"/>
          </a:xfrm>
          <a:prstGeom prst="rect">
            <a:avLst/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" y="5968492"/>
            <a:ext cx="4089347" cy="41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 论文 Fig. 1：真实数据（约 9 万节点）vs 合成数据（约 100 万节点）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37987" y="3593709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958027" y="3562594"/>
            <a:ext cx="6730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挑战一：合成图要足够逼真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Fidelity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323787" y="4009380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9" name="Text 15"/>
          <p:cNvSpPr/>
          <p:nvPr/>
        </p:nvSpPr>
        <p:spPr>
          <a:xfrm>
            <a:off x="5598107" y="3974074"/>
            <a:ext cx="60906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真实图的结构、特征、异常模式高度异质且相互耦合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637987" y="4453245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958027" y="4422130"/>
            <a:ext cx="6730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挑战二：数据放大后，模型成了瓶颈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Capacity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5323787" y="4868916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3" name="Text 19"/>
          <p:cNvSpPr/>
          <p:nvPr/>
        </p:nvSpPr>
        <p:spPr>
          <a:xfrm>
            <a:off x="5598107" y="4833610"/>
            <a:ext cx="60906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现有模型换成合成数据训练，效果持平但不再上涨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5323787" y="5198100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5" name="Text 21"/>
          <p:cNvSpPr/>
          <p:nvPr/>
        </p:nvSpPr>
        <p:spPr>
          <a:xfrm>
            <a:off x="5598107" y="5162794"/>
            <a:ext cx="60906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更大的 TS-GGAD：真实数据 82.9 → 合成数据 86.6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136392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962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554480" y="368503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5295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动机：真实数据之困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142232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9867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方法：合成流水线与 TS-GGAD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459943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4439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实验：性能与消融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 + TS-GGAD 整体框架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Is Real-World Training Data Necessary for Generalist GAD?, arXiv:2610.12167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核心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思想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synthesizes anomalous graphs;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TS-GGAD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learns from them with an easy-to-hard curriculum</a:t>
            </a:r>
            <a:endParaRPr lang="en-US" sz="1700" dirty="0"/>
          </a:p>
        </p:txBody>
      </p:sp>
      <p:pic>
        <p:nvPicPr>
          <p:cNvPr id="13" name="Image 0" descr="/tmp/rr-demo/figs/forge_frame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0516" y="2553188"/>
            <a:ext cx="6770663" cy="3527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710516" y="2553188"/>
            <a:ext cx="6770663" cy="3527572"/>
          </a:xfrm>
          <a:prstGeom prst="rect">
            <a:avLst/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438248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 论文 Fig. 2：上 = 合成流水线；左下 = TS-GGAD 双流模型；右下 = 课程学习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AG-Forge：三阶段合成流水线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Is Real-World Training Data Necessary for Generalist GAD?, arXiv:2610.12167；Sec. 3.1 与 Fig. 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数据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合成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Structure → feature → anomaly, each stage with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composable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options and a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difficulty knob δ</a:t>
            </a:r>
            <a:endParaRPr lang="en-US" sz="17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297680"/>
                <a:gridCol w="52120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阶段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可选类型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做法要点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6715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① 结构生成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CS 社区结构 · SF 无标度 · PB 投影二部图 · SW 小世界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分别用随机块模型、枢纽式增长、二部图投影、环格重连生成；节点数随机采样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15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② 特征生成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Dense 稠密 · Sparse 稀疏 · Binary 二值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每个社区一个潜在中心，加节点扰动后随机投影到 D 维，再转成对应类型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15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③ 异常注入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LD 局部稠密化 · LC 链接集中 · AS 属性抑制 · CD 社区分散 · Mix 混合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难度系数 δ 控制扰动强度与伪装程度，δ 越大越难检测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Because every stage is randomized and composable, the generator covers regions of graph space that the handful of real datasets never reach; the paper's t-SNE shows synthetic nodes spreading around and between real ones.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TS-GGAD：双流模型与课程学习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Is Real-World Training Data Necessary for Generalist GAD?, arXiv:2610.12167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模型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训练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Two streams capture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topological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and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semantic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anomaly evidence; a per-node gate fuses them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85800" y="259003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55117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拓扑流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Topology stream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71600" y="304228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299923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沿用 ReFi 的 5 维统计量（排名归一化）+ 带注意力掩码的 Transformer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85800" y="350443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346557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语义流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Semantic stream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371600" y="395668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0" name="Text 17"/>
          <p:cNvSpPr/>
          <p:nvPr/>
        </p:nvSpPr>
        <p:spPr>
          <a:xfrm>
            <a:off x="1645920" y="391363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PCA 统一维度 → 基于地标节点（landmark）的散射归一化 → MLP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85800" y="441883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437997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样本级门控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Gated fusion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371600" y="487108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4" name="Text 21"/>
          <p:cNvSpPr/>
          <p:nvPr/>
        </p:nvSpPr>
        <p:spPr>
          <a:xfrm>
            <a:off x="1645920" y="482803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用节点的拓扑描述预测两路权重，按节点自适应融合两路异常证据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85800" y="533323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5840" y="529437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课程学习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Curriculum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371600" y="578548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8" name="Text 25"/>
          <p:cNvSpPr/>
          <p:nvPr/>
        </p:nvSpPr>
        <p:spPr>
          <a:xfrm>
            <a:off x="1645920" y="574243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按 δ 由易到难加入训练图；按 EMA 损失调整采样概率；节点级 focal loss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136392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962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554480" y="368503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5295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动机：真实数据之困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14223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9867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方法：合成流水线与 TS-GGAD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4599432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4439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实验：性能与消融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主实验：合成数据能否替代真实数据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Is Real-World Training Data Necessary for Generalist GAD?, arXiv:2610.12167；14 集平均 AUROC，由 Table 1 计算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结果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Trained on synthetic data only, TS-GGAD ranks first on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all 14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datasets (avg 86.61)</a:t>
            </a:r>
            <a:endParaRPr lang="en-US" sz="17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32918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方法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真实数据训练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AG-Forge 合成数据训练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变化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ARC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74.82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74.79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−0.03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UNPrompt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66.17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66.11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−0.06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IA-GGAD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76.92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76.79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−0.13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ReFi-GAD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81.22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u="sng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81.59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+0.37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TS-GGAD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82.9（Fig. 1）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86.61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+3.7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Synthetic data is a drop-in replacement for real data (all four baselines within ±0.4), but only the higher-capacity TS-GGAD turns the extra data into accuracy: +5.39 AUROC over ReFi-GAD.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消融：哪些设计最关键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Is Real-World Training Data Necessary for Generalist GAD?, arXiv:2610.12167；Fig. 3–4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消融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分析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Removing the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topology stream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costs 20 points: ReFi-style statistics remain the backbone</a:t>
            </a:r>
            <a:endParaRPr lang="en-US" sz="17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377440"/>
                <a:gridCol w="256032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消融对象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变体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AUROC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相对完整模型 (86.61)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338328">
                <a:tc row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TS-GGAD 组件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 拓扑流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66.13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−20.48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 课程学习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81.18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−5.43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 语义流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82.03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−4.58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 门控（改为简单融合）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85.64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−0.97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AG-Forge 策略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去掉一种结构生成（4 种之一）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83.07 – 85.22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平均 −2.33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去掉一种特征生成（3 种之一）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84.29 – 85.57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平均 −1.80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去掉一种异常注入（4 种之一）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85.33 – 85.66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平均 −1.07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Structural diversity matters more than feature or anomaly diversity, and the ReFi-style topology stream dominates the model: the second paper scales up the first one's idea rather than replacing it.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6883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5146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32552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0815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8221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6484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77240" y="4389120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215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77240" y="49560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7823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两篇论文对比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来源：两篇论文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横向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Same problem, same benchmark, two different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bottlenecks</a:t>
            </a:r>
            <a:endParaRPr lang="en-US" sz="17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480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维度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ReFi-GAD（ICML'26）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AG-Forge + TS-GGAD（arXiv'26）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瓶颈判断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特征异质：PCA 只对齐维度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数据稀缺：真实训练图只有约 9 万节点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核心做法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5 维关系指纹替代原始特征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合成异常图 + 双流模型 + 课程学习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训练数据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真实图（两组数据集交替训练）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100% 合成图（约 100 万节点）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14 集平均 AUROC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85.08（支撑集 k = 50）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86.61（K = 30；同设定下 ReFi 为 81.22）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作者自述局限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依赖带标签支撑集；指纹需人工设计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缺少系统的合成数据质量评估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Read together, the papers form one line of work: first make the input transferable, then make the training data scalable, with the 5-dim fingerprint as the thread between them.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值得讨论的问题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来源：根据两篇论文的表格自行核算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问题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讨论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Points to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double-check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before building on these results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85800" y="259003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55117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同一方法，两篇结果不同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71600" y="304228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299923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 14 集平均：论文一 85.08（k = 50），论文二 81.22（K = 30）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371600" y="340804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8" name="Text 15"/>
          <p:cNvSpPr/>
          <p:nvPr/>
        </p:nvSpPr>
        <p:spPr>
          <a:xfrm>
            <a:off x="1645920" y="336499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两篇设定不同（支撑集 50 vs 30），差异来源需要控制变量复现；横向比较前先对齐设定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5800" y="387019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383133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同一消融，统计范围不同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371600" y="432244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2" name="Text 19"/>
          <p:cNvSpPr/>
          <p:nvPr/>
        </p:nvSpPr>
        <p:spPr>
          <a:xfrm>
            <a:off x="1645920" y="427939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正文 20.39 / 0.70 按全部 14 个数据集计（附录 Table 8）；正文表 2 只列 Group 2，算出来是 24.10 / 0.88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85800" y="478459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5840" y="474573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PCA 在论文二里又出现了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371600" y="523684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6" name="Text 23"/>
          <p:cNvSpPr/>
          <p:nvPr/>
        </p:nvSpPr>
        <p:spPr>
          <a:xfrm>
            <a:off x="1645920" y="519379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语义流仍用 PCA + 地标归一化；去掉语义流掉 4.58，说明原始语义信息仍不可缺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6883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5146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32552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0815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8221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6484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77240" y="43891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215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77240" y="4956048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7823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31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来源：两篇论文的结论部分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011172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56816"/>
            <a:ext cx="1068293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零样本通用 GAD</a:t>
            </a:r>
            <a:pPr algn="l" indent="0" marL="0">
              <a:buNone/>
            </a:pPr>
            <a:r>
              <a:rPr lang="en-US" altLang="en-US" sz="17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Zero-shot generalist GAD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371600" y="2501392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2450592"/>
            <a:ext cx="100428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去掉推理时对带标签支撑集的依赖（论文一作者提出）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062732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008376"/>
            <a:ext cx="1068293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可学习的关系指纹</a:t>
            </a:r>
            <a:pPr algn="l" indent="0" marL="0">
              <a:buNone/>
            </a:pPr>
            <a:r>
              <a:rPr lang="en-US" altLang="en-US" sz="17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Learned relational fingerprints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71600" y="3552952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3502152"/>
            <a:ext cx="100428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自动学习或搜索关系属性，替代人工设计的 5 个维度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4114292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059936"/>
            <a:ext cx="1068293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合成数据的质量评估与筛选</a:t>
            </a:r>
            <a:pPr algn="l" indent="0" marL="0">
              <a:buNone/>
            </a:pPr>
            <a:r>
              <a:rPr lang="en-US" altLang="en-US" sz="17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Synthetic data curation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371600" y="4604512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9" name="Text 17"/>
          <p:cNvSpPr/>
          <p:nvPr/>
        </p:nvSpPr>
        <p:spPr>
          <a:xfrm>
            <a:off x="1645920" y="4553712"/>
            <a:ext cx="100428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给合成图的“有用程度”定标准，指导生成与采样（论文二作者提出）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5165852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111496"/>
            <a:ext cx="1068293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继续放大规模</a:t>
            </a:r>
            <a:pPr algn="l" indent="0" marL="0">
              <a:buNone/>
            </a:pPr>
            <a:r>
              <a:rPr lang="en-US" altLang="en-US" sz="17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Scaling up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371600" y="5656072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3" name="Text 21"/>
          <p:cNvSpPr/>
          <p:nvPr/>
        </p:nvSpPr>
        <p:spPr>
          <a:xfrm>
            <a:off x="1645920" y="5605272"/>
            <a:ext cx="100428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两篇都观察到“数据大 + 模型大”效果最好，可探索 PFN 式图异常基础模型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5200" b="1" spc="1000" kern="0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谢 谢 聆 听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361188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i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Thank You  &amp;  Questions 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38648" y="1737360"/>
            <a:ext cx="914400" cy="54864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6" name="Shape 4"/>
          <p:cNvSpPr/>
          <p:nvPr/>
        </p:nvSpPr>
        <p:spPr>
          <a:xfrm>
            <a:off x="5638648" y="5074920"/>
            <a:ext cx="914400" cy="54864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800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欢迎批评指正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通用图异常检测论文精读</dc:title>
  <dc:subject>PptxGenJS Presentation</dc:subject>
  <dc:creator>汇报人</dc:creator>
  <cp:lastModifiedBy>汇报人</cp:lastModifiedBy>
  <cp:revision>1</cp:revision>
  <dcterms:created xsi:type="dcterms:W3CDTF">2026-10-23T16:41:08Z</dcterms:created>
  <dcterms:modified xsi:type="dcterms:W3CDTF">2026-10-23T16:41:08Z</dcterms:modified>
</cp:coreProperties>
</file>