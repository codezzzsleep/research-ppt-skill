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这一页只讲一件事：agent 的定义早就收敛了。后面所有争论都不是关于「什么是 agent」，而是关于「系统里哪一部分在贡献能力」。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看这张图时提醒一句：三条线不是替代关系，是同一个问题的三个侧面。交汇点定在 2024 年，因为 SWE-agent 的 ACI 与 METR 的 scaffold 口径都出现在那一年。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注意时间列写的是 arXiv 首发时间，ReAct 的 arXiv 是 2022-10，正式发表是 ICLR 2023，两者不同，引用时要说清。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这一页专门用来纠正一个常见错误：很多汇报把不同变体的分数放在一张表里比。先说清分母，后面才讲得动。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这一页是整份综述的转折点：从这里开始，「模型能力」和「系统能力」变得不可分。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最后一行的 AHE 是 2026 年预印本，口头要说明来源等级。另外提醒：这里的「人类设计基线」是 Codex CLI 的 71.9%。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第三块很重要：同一年文献里这几个词混用，如果不先声明它们是同义的，听众会以为是四个不同概念。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必须口头说明：左列是论文原文，中右两列是我归纳的工程直觉。这是本页最容易把「归纳」当成「引用」的地方。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这张图就是全章的主图：左边循环是模型在做的事，外面那圈虚线是 harness 在做的事。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三层递进是为了既有力又不过度声称。最后一定要讲 −0.3 pp 这个反例，否则就是在夸大 harness 的普适影响。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「拍平角色标签」指上下文压缩时把 system/user 的角色边界抹掉，会导致一类安全问题——这正是 harness 实现细节决定行为边界的例子。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最后一块是重点，也是最容易被忽略的：自动优化 harness 现在能超过人类，但泛化不了。这个张力很适合作为讨论点。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规模一列故意写成区间，因为像 Terminal-Bench 已经迭代到 4.0，写死一个数字很快就会过期。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四类缺陷里②是本次综述的核心论点：它不是某一篇论文的问题，而是整个榜单体系的系统性偏差。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这个实验是整份综述里最有说服力的单点证据：它直接量化了「榜上通过」与「人愿意合并」之间的距离。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这一页是归纳不是引用，口头必须说明。如果被追问，每一格的支撑都能回到前面的具体页。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这一页是给老师和同学讨论用的，不是挑错：三点都可以作为后续工作的切入点。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77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b="1" spc="2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方向概览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6304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通用 Agent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LLM + 工具 + 记忆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57400" y="2350008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615184"/>
            <a:ext cx="3200400" cy="841248"/>
          </a:xfrm>
          <a:prstGeom prst="rect">
            <a:avLst/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615184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D1C9E7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可验证的杀手场景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57400" y="3502152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767328"/>
            <a:ext cx="320040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3767328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16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决定模型看到什么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57400" y="4654296"/>
            <a:ext cx="0" cy="21945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4919472"/>
            <a:ext cx="3200400" cy="841248"/>
          </a:xfrm>
          <a:prstGeom prst="rect">
            <a:avLst/>
          </a:prstGeom>
          <a:solidFill>
            <a:srgbClr val="FFFFF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491947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评测与归因</a:t>
            </a:r>
            <a:endParaRPr lang="en-US" sz="1600" dirty="0"/>
          </a:p>
          <a:p>
            <a:pPr algn="ctr" indent="0" marL="0">
              <a:buNone/>
            </a:pPr>
            <a:r>
              <a:rPr lang="zh-CN" altLang="en-US" sz="120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分数究竟属于谁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035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Harness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1005840"/>
            <a:ext cx="7162495" cy="133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AI Agent 与 Harness：</a:t>
            </a:r>
            <a:endParaRPr lang="en-US" sz="4000" dirty="0"/>
          </a:p>
          <a:p>
            <a:pPr algn="l" indent="0" marL="0">
              <a:buNone/>
            </a:pPr>
            <a:r>
              <a:rPr lang="zh-CN" altLang="en-US" sz="40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系统比权重更重要的那一半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0" y="2409952"/>
            <a:ext cx="7162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AI Agent / Coding Agent / Harness 方向综述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4572000" y="3141472"/>
            <a:ext cx="822960" cy="73152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337007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From general agents to coding agents, and the harness in between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0" y="3781552"/>
            <a:ext cx="71624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 survey of paradigms, systems, and evaluation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0" y="5303520"/>
            <a:ext cx="6858000" cy="36576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0" y="548640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 报 人：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[ 汇报人姓名 ]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0" y="589788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汇报时间：</a:t>
            </a:r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2026 年 10 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0" y="6309360"/>
            <a:ext cx="7162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文献检索：</a:t>
            </a:r>
            <a:pPr algn="l" indent="0" marL="0">
              <a:buNone/>
            </a:pPr>
            <a:r>
              <a:rPr lang="en-US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2026-10-23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67883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60568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204459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1971446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554480" y="241767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337206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基准：SWE-bench 家族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Benchmarks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54480" y="272491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2644445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路线：agentic 还是 agentless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Routes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554480" y="3032150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2951683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系统：代表实现与分数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Systems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33207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325892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554480" y="3705149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1828800" y="3624682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定义与职责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Definition &amp; Duties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554480" y="4012387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1828800" y="3931920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差多少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 Gap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1554480" y="4319626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0" y="4239158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从手工到自动演化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Harness Engineering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4619549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4546397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554480" y="4992624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4912157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基准图景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Landscape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554480" y="5299862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0" y="5219395"/>
            <a:ext cx="100584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缺陷与归因</a:t>
            </a:r>
            <a:pPr algn="l" indent="0" marL="0">
              <a:buNone/>
            </a:pPr>
            <a:r>
              <a:rPr lang="en-US" altLang="en-US" sz="14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Flaws &amp; Attribution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777240" y="559978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552663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77240" y="596554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589239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6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311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980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5387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649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1056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31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6725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988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52395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0657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什么是 AI Agent：一个已经收敛的定义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来源：Anthropic《Building effective agents》(2024-12)；arXiv:2210.03629 / 2303.11366 / 2305.10601 / 2305.16291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 ReAct 到今天的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augmented LLM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，agent 的内核高度一致</a:t>
            </a:r>
            <a:endParaRPr lang="en-US" sz="17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真正在变的只是复杂度：workflow 是预定义路径，agent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自主决定流程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内核构件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core loop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LLM + 记忆 + 工具 + 规划 + 环境反馈；本质是「模型在反馈循环中调用工具」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Anthropic（2024-12）称之为 augmented LLM，并区分 workflow 与 agent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后续工作是在内核上补模块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Extensions, not replacements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Reflexion 补语言化反馈与 episodic memory；ToT 把 CoT 泛化为对 thought 的搜索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Voyager 补技能库与自动课程；Generative Agents 补「观察-规划-反思」记忆架构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工程侧共识：复杂度必须被证明是必要的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Keep it simple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先找最简方案，只在可证明提升结果时才增加复杂度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371600" y="605267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0" y="600962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Cognition（2025-06）更激进：默认排除多 agent，除非满足两条上下文原则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7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三条线：通用 Agent / 编码智能体 / Harness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来源：自绘；节点出处见各章 source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三条线在 2024 年前后交汇于同一个问题：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系统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权重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各自贡献了多少能力</a:t>
            </a:r>
            <a:endParaRPr lang="en-US" sz="1700" dirty="0"/>
          </a:p>
        </p:txBody>
      </p:sp>
      <p:pic>
        <p:nvPicPr>
          <p:cNvPr id="13" name="Image 0" descr="/var/lib/deepseek-harness/workspace/agent-harness-survey/figs/fig_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2648" y="2468880"/>
            <a:ext cx="8026400" cy="3611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082648" y="2468880"/>
            <a:ext cx="8026400" cy="3611880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082648" y="6126480"/>
            <a:ext cx="802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三条技术线的关键节点（自绘示意图；各节点的出处见后续各页）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范式演进：从推理到工具到协议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来源：arXiv:2210.03629 / 2303.11366 / 2305.10601 / 2305.16291；MCP 官方博客（2024-11-25 首发，2025-12-09 捐赠）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演进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范式内核稳定，真正在变的是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记忆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搜索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与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工具接口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219456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时间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工作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发表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贡献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2022-10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ReAct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ICLR 2023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推理轨迹与动作交错，可调用外部环境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2023-03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Reflexion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NeurIPS 2023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语言化反馈 + episodic memory，不更新权重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2023-05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Tree of Thoughts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NeurIPS 2023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把 CoT 泛化为对 thought 的搜索：自评、前瞻、回溯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2023-05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Voyager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TMLR 2024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可执行代码技能库 + 自动课程，Minecraft 终身学习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2024-11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MCP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Anthropic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工具/上下文接口协议化（2025-12 捐给 AAIF）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共同点：都在同一内核上补模块，没有人改变「LLM 在反馈循环中调用工具」这一形式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把这几年的工作看成一条线会更清楚：ReAct 定下了循环，后续工作分别补齐记忆、搜索、技能与接口标准——变的是模块，不变的是循环本身。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190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45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12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2834640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6791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基准：SWE-bench 家族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Benchmarks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291840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1363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路线：agentic 还是 agentless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Routes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749040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5935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系统：代表实现与分数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Systems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2245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050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47914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3583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846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190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45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12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554480" y="2834640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26791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基准：SWE-bench 家族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Benchmarks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554480" y="3291840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1363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路线：agentic 还是 agentless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Routes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749040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5935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系统：代表实现与分数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Systems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42245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050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47914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3583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846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1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SWE-bench 家族：四个变体，四套分母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来源：arXiv:2310.06770（ICLR 2024）/ 2410.03859；OpenAI 公告 2024-08-13；Lite 规模经 arXiv:2607.01597 交叉确认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设定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把 2,294 题的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原版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、500 题的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Verified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、300 题的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Lite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并列，是本领域最常见的错误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变体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规模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领域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发布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原版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2,294 / 12 仓库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Python · 真实 GitHub issue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Princeton, ICLR 2024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Verified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500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同上，人工校验可解子集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OpenAI, 2024-08-13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Lite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300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同上，轻量子集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Agentless 论文, 2024-07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Multimodal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619 / 17 仓库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JavaScript · 题面含图/视频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ICLR 2025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6705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口径陷阱：四个变体分母不同，跨变体比较得出的「提升 X%」没有意义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分母不同是评测叙事的第一道陷阱：原版 1.96% 与 Verified 77.2% 之间的巨大差距里，既有模型进步，也有题目被换过的成分。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路线之争：agentic 反而输给了 agentless？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来源：arXiv:2405.15793（NeurIPS 2024）；arXiv:2407.01489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861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洞察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861548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770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不做 agent 的三段式 pipeline 在 </a:t>
            </a:r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SWE-bench Lite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上拿到 32.00%，当时高于所有开源 agent 系统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67434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63548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agentic 路线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SWE-agent, 2024-05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12659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308354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自定义 agent-computer interface（ACI），原版 SWE-bench pass@1 12.5%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923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4493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把「接口设计」确立为一阶可研究变量，而非实现细节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5450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1564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agentless 路线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Agentless, 2024-07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40675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6370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定位 → 修复 → 补丁验证三步，Lite 32.00%（96/300），单题成本 $0.70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725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7294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作者结论：收益主要来自 test-time 反馈与检索质量，而非自主决策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234666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95804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由此得到的判断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What actually matters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869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64386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「是不是 agent」是个坏问题，「反馈信号从哪里来」才是好问题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371600" y="605267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0" y="6009620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这一点直接通向后面的 harness：反馈与检索都由系统而非权重提供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代表系统与可比的分数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来源：arXiv:2405.15793 / 2404.05427 / 2407.01489；Anthropic 2025-09-29；arXiv:2604.25850（预印本）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结果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每个分数都必须带上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基准变体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时间点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，否则不可比</a:t>
            </a:r>
            <a:endParaRPr lang="en-US" sz="1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3291840"/>
                <a:gridCol w="31089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系统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年份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基准变体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分数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SWE-agent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原版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12.5%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AutoCodeRover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Lite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19%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Agentless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Lite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32.00%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Claude Sonnet 4.5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2025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Verified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77.2%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AHE（自动演化 harness）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2026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Terminal-Bench 2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69.7 → 77.0%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同类系统在同一变体内部的曲线才说明进步；跨变体的绝对数字不构成比较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把变体写清楚之后，分数曲线才讲得通：真正的进步是「同一变体内」的成绩提升，跨榜单的绝对数字放在一起只会误导。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190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45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12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791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401568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定义与职责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Definition &amp; Duties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858768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差多少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 Gap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315968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从手工到自动演化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Harness Engineering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7914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3583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846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190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45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12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791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401568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定义与职责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Definition &amp; Duties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85876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差多少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 Gap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31596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从手工到自动演化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Harness Engineering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7914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3583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846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是什么：模型外面那一圈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来源：arXiv:2610.30499（2026-10，预印本）；METR 2024-10-30 与 2024-03-15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定义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是围绕固定权重的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符号程序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，决定模型看到什么、能用什么工具、何时终止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一条被反复引用的定义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Definition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299656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53512"/>
            <a:ext cx="10042855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「A harness is a symbolic program that orchestrates calls to the model, handling perception, memory, tool use, recovery, and inference allocation.」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55282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509772"/>
            <a:ext cx="1004285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—— Lehmann &amp; Vahdati, arXiv:2610.30499（2026-10，预印本）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96925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930396"/>
            <a:ext cx="1068293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METR 的方法论口径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Model vs scaffold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3757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332732"/>
            <a:ext cx="1004285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「our methodology involves using scaffolding programs to make agents out of language models」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704969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661916"/>
            <a:ext cx="1004285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capability elicitation 指南要求给出 best available scaffolding + tooling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121402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082540"/>
            <a:ext cx="1068293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术语的同义关系（本综述显式声明）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Synonymy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527929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484876"/>
            <a:ext cx="1004285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≈ scaffold ≈ agent framework ≈ runtime substrate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371600" y="585711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0" y="5814060"/>
            <a:ext cx="1004285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METR 一贯用 scaffold；2026 年编码社区多用 harness；Anthropic 用 ACI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的职责：11 项官方清单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来源：arXiv:2605.13357（预印本）；中/右列为本文归纳，非引用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结构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把 harness 当工程对象看，它有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11 项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明确职责，而不是「一堆胶水代码」</a:t>
            </a:r>
            <a:endParaRPr lang="en-US" sz="1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937760"/>
                <a:gridCol w="32918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职责（原清单归并）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工程含义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缺失时的典型症状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任务规格 specification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把用户意图变成可执行、可验证的目标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目标漂移：做完了但做错了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上下文选择 selection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决定每轮把什么放进窗口，含压缩与外部记忆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长任务中早期信息丢失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工具与项目记忆 access / memory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工具 schema 与工程约定的持久化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重复探索，风格不一致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任务状态与观测 state / observability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状态机与完整 trajectory 记录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失败无法归因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验证与权限 verification / permissions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自动验证 + 人类审批点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不可信的自动化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失败归因与熵审计 attribution / auditing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把失败定位到具体环节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同类错误反复出现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左列 11 项来自 Zhong &amp; Zhu, arXiv:2605.13357（2026-05，预印本）的原文清单；中、右列为本文归纳</a:t>
                      </a:r>
                      <a:endParaRPr lang="en-US" sz="12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742432"/>
            <a:ext cx="11185855" cy="65836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74243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815584"/>
            <a:ext cx="106372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拆成职责清单后，「换个 harness 分数就变」不再神秘：变的正是这 11 项里被认认真真实现好了几项。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包住的 agent 循环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来源：自绘；职责划分据 arXiv:2610.30499 与 arXiv:2605.13357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核心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思想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模型在环内做决策，harness 在环外包住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上下文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工具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沙箱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观测</a:t>
            </a:r>
            <a:endParaRPr lang="en-US" sz="1700" dirty="0"/>
          </a:p>
        </p:txBody>
      </p:sp>
      <p:pic>
        <p:nvPicPr>
          <p:cNvPr id="13" name="Image 0" descr="/var/lib/deepseek-harness/workspace/agent-harness-survey/figs/fig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3374" y="2468880"/>
            <a:ext cx="9504947" cy="3611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43374" y="2468880"/>
            <a:ext cx="9504947" cy="3611880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343374" y="6126480"/>
            <a:ext cx="950494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与 agent 循环的关系（自绘示意图）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190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45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12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791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40156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定义与职责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Definition &amp; Duties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858768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差多少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 Gap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31596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从手工到自动演化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Harness Engineering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7914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3583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846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差多少：分三层看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来源：arXiv:2604.25850 / 2610.30499（预印本，其中 38.3→100 为转引）；Zenodo DOI 10.5281/zenodo.19819492；来源：Lewis, arXiv:2608.26218（2026-08，预印本）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实验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分析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的影响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不是单一数字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：既要看分数，也要看成本与上下文压力</a:t>
            </a:r>
            <a:endParaRPr lang="en-US" sz="1700" dirty="0"/>
          </a:p>
        </p:txBody>
      </p:sp>
      <p:pic>
        <p:nvPicPr>
          <p:cNvPr id="13" name="Image 0" descr="/var/lib/deepseek-harness/workspace/agent-harness-survey/figs/fig_harness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68880"/>
            <a:ext cx="4940531" cy="27172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02920" y="2468880"/>
            <a:ext cx="4940531" cy="2717292"/>
          </a:xfrm>
          <a:prstGeom prst="rect">
            <a:avLst/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5760" y="5231892"/>
            <a:ext cx="5306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CN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影响的三层证据（自绘示意图；数字与出处见右侧）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4931" y="2813731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74971" y="2798110"/>
            <a:ext cx="551380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可信的小幅值：Terminal-Bench 2</a:t>
            </a:r>
            <a:pPr algn="l" indent="0" marL="0">
              <a:buNone/>
            </a:pPr>
            <a:r>
              <a:rPr lang="en-US" altLang="en-US" sz="12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Modest but solid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6540731" y="3150916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5"/>
          <p:cNvSpPr/>
          <p:nvPr/>
        </p:nvSpPr>
        <p:spPr>
          <a:xfrm>
            <a:off x="6815051" y="3131104"/>
            <a:ext cx="48737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AHE 自动演化 10 轮：69.7% → 77.0%，人类设计基线 71.9%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854931" y="3516630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174971" y="3501009"/>
            <a:ext cx="551380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极端的大幅值：ARC-AGI-3</a:t>
            </a:r>
            <a:pPr algn="l" indent="0" marL="0">
              <a:buNone/>
            </a:pPr>
            <a:r>
              <a:rPr lang="en-US" altLang="en-US" sz="12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Extreme (preprint, quoted)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540731" y="385381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19"/>
          <p:cNvSpPr/>
          <p:nvPr/>
        </p:nvSpPr>
        <p:spPr>
          <a:xfrm>
            <a:off x="6815051" y="3834003"/>
            <a:ext cx="4873724" cy="417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同一模型 GPT-5.6 Sol：38.3 RHAE（简单 harness）→ 100 RHAE（人类调优）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540731" y="4317111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5" name="Text 21"/>
          <p:cNvSpPr/>
          <p:nvPr/>
        </p:nvSpPr>
        <p:spPr>
          <a:xfrm>
            <a:off x="6815051" y="4297299"/>
            <a:ext cx="48737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注意：该数字为转引，非该文自身实验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5854931" y="468282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74971" y="4667204"/>
            <a:ext cx="5513804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成本维度：先影响成本，再影响正确率</a:t>
            </a:r>
            <a:pPr algn="l" indent="0" marL="0">
              <a:buNone/>
            </a:pPr>
            <a:r>
              <a:rPr lang="en-US" altLang="en-US" sz="12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Cost first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6540731" y="5020010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9" name="Text 25"/>
          <p:cNvSpPr/>
          <p:nvPr/>
        </p:nvSpPr>
        <p:spPr>
          <a:xfrm>
            <a:off x="6815051" y="5000198"/>
            <a:ext cx="4873724" cy="23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2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Terminal-Bench Pro 上最多 40× 每解题 token，正确率差 2–10 pp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32" name="Shape 28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33" name="Text 29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更该讲的是反例：context 不受限时，改 harness 在 Verified 上的差值只有 −0.3 pp（95% 置信区间含 0）——harness 的效应是在上下文压力下才被放大的。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代表 harness：从开源框架到厂商产品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来源：arXiv:2405.15793 / 2407.16741 / 2610.29869（预印本）；各项目官方文档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横向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开源与闭源在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可复现性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上差异明显：闭源 harness 只能靠文档与榜单反推</a:t>
            </a:r>
            <a:endParaRPr lang="en-US" sz="17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4389120"/>
                <a:gridCol w="182880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Harness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归属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关键设计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开放性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SWE-agent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Princeton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自定义 ACI；首个把接口设计当变量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开源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OpenHands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All-Hands-AI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沙箱化执行 + 多 agent + 内置基准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开源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Claude Code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Anthropic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文档覆盖 context / memory / subagents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闭源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Codex CLI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OpenAI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终端 agent；常被当作人类设计基线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开源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Aider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Aider-AI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命令行 pair-programmer；压缩会拍平角色标签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开源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LangGraph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LangChain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图式编排，可编译为不同运行时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开源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 gridSpan="4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3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开放性本身就是评测变量：闭源 harness 的设计细节无法被第三方复现</a:t>
                      </a:r>
                      <a:endParaRPr lang="en-US" sz="13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这一列「开放性」比任何分数都关键：只要 harness 不可复现，「同一模型换个壳分数就变」就永远无法被独立验证或归因。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7190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5453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2860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122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2852928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6791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554480" y="340156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182880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定义与职责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Definition &amp; Duties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54480" y="3858768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换 harness 差多少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 Gap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315968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从手工到自动演化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Harness Engineering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47914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617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3583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1846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77240" y="59253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7515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从手工调优到自动演化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来源：arXiv:2610.20344 / 2603.28052 / 2604.25850 / 2610.30499（均为 2026 年预印本）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方法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演进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已经从「手写胶水」变成有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专门基准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专门优化器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专门综述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的研究对象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把 harness 本身当作能力来测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Doc2Harness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19 个前沿模型 / 328 个 test case；最强 53.05%，最弱 27.44%（约 26 个百分点差距）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35044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05840" y="34655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自动搜索与演化 harness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Optimizers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371600" y="39566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0" name="Text 17"/>
          <p:cNvSpPr/>
          <p:nvPr/>
        </p:nvSpPr>
        <p:spPr>
          <a:xfrm>
            <a:off x="1645920" y="39136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Meta-Harness：在线文本分类 +7.7 分，且 context token 少 4×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1371600" y="43224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2793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AHE：Terminal-Bench 2 上 69.7% → 77.0%，超过人类设计基线 71.9%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47845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7457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但自主改进存在「适应鸿沟」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Adaptation gap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71600" y="52368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1937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Lehmann &amp; Vahdati：两次自主修订的 held-out RHAE 平均仅 +2.80（置信区间含 0）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371600" y="560260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55955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同一实验里 dev 增益是 held-out 的 5.62 倍——改进过拟合到了开发集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73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408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0815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07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3648456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74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54480" y="4197096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0416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基准图景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Landscape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654296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98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缺陷与归因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Flaws &amp; Attribution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1297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56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967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5229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73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408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0815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07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3648456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74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54480" y="4197096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0416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基准图景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Landscape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654296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98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缺陷与归因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Flaws &amp; Attribution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1297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56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967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5229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基准图景：从代码到桌面到长程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来源：arXiv:2310.06770 / 2601.11868 / 2311.12983 / 2404.07972 / 2307.13854 / 2503.14499；各官方页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图景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基线差距在收窄，但收窄速度高度依赖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变体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时间点</a:t>
            </a:r>
            <a:endParaRPr lang="en-US" sz="17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377440"/>
                <a:gridCol w="3657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基准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发布方 / 年份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规模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测什么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系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Princeton / 2023–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2,294 → 500 → 619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 GitHub issue 修复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Terminal-Bench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Stanford · Laude / 2025–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80 → 89 任务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命令行长程真实任务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GAIA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Meta / 2023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466 题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通用助手，需多步工具使用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OSWorld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HKU · CMU / 2024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369 题（Ubuntu）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真实操作系统操作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WebArena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CMU / 2023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812 实例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网页导航与操作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METR time-horizon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METR / 2025–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170 → 228 任务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「人类等效任务时长」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基准的设计目标已经换了：从「覆盖哪种任务」转向「任务有多长、有多真、能不能被污染」，2025 年后的新基准几乎都以长程与抗污染立项。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73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5146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408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0815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9077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3648456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747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554480" y="4197096"/>
            <a:ext cx="146304" cy="146304"/>
          </a:xfrm>
          <a:prstGeom prst="rtTriangle">
            <a:avLst/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40416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基准图景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Landscape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554480" y="4654296"/>
            <a:ext cx="146304" cy="146304"/>
          </a:xfrm>
          <a:prstGeom prst="rtTriangl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44988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缺陷与归因</a:t>
            </a:r>
            <a:pPr algn="l" indent="0" marL="0">
              <a:buNone/>
            </a:pPr>
            <a:r>
              <a:rPr lang="en-US" altLang="en-US" sz="15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Flaws &amp; Attribution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1297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560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77240" y="56967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5229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评测的四类缺陷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来源：arXiv:2410.06992 / 2506.12286；METR 2026-02-13；arXiv:2406.12045；tbench.ai 官方公告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讨论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高分不等于高能力：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污染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混淆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不可复现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与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饱和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同时存在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① 污染与解法泄漏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Contamination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SWE-bench+：32.67% 的「成功补丁」答案已写在 issue 或评论中；过滤后 SWE-Agent+GPT-4 由 12.47% 跌至 3.97%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5985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5554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SWE-bench Illusion：仅凭 issue 文本定位文件路径，Verified 76% vs 外部仓库 53%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40606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40218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② harness 的贡献被算作模型能力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Attribution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5129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4698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METR 对照：Claude Code 仅 50.7% bootstrap 胜 ReAct，Codex 仅 14.5% 胜 Triframe，均不显著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49750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9362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③ 不可复现 与 ④ 饱和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Reproducibility &amp; saturation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71600" y="54273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3842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pass@k 与 τ-bench 的 pass^k 语义相反；Aider 同时报 pass@1 与 pass@2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1371600" y="579310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75005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Terminal-Bench 官方直言 many tasks have become saturated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通过 benchmark ≠ 可以合并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来源：METR 2026-03-10 官方报告（SWE-bench Verified 95 题子集）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讨论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自动评分平均比真实 maintainer 的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合并决定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高出约 24.2 个百分点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METR 的 maintainer 盲审实验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Maintainer blind review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4 名真实 maintainer 审阅 296 个「已通过 SWE-bench Verified 自动评分」的 AI PR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080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3649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自动评分平均高出约 24.2 pp（SE 2.7）；约一半通过但最终未被合并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8701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8313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作者自己的限定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What it does not mean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3224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2793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这不代表模型能力上限，而是说明朴素解读会系统性高估真实可用性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85800" y="47845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5840" y="47457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对我们引用分数的启示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Takeaway for reporting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1371600" y="52368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6" name="Text 23"/>
          <p:cNvSpPr/>
          <p:nvPr/>
        </p:nvSpPr>
        <p:spPr>
          <a:xfrm>
            <a:off x="1645920" y="51937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分数测的是「能通过测试」，不是「人愿意采用」；汇报时必须写明口径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311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980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5387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649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1056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31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672584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988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523951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0657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三条线横向对比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29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来源：本综述对上述各章材料的归纳（属本文判断，非单一文献结论）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横向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三条线共享同一个未解问题：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能力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该记在权重上，还是记在系统上</a:t>
            </a:r>
            <a:endParaRPr lang="en-US" sz="1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68880"/>
          <a:ext cx="1118585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004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维度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通用 Agent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Coding Agent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altLang="en-US" sz="14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Harness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27A0"/>
                    </a:solidFill>
                  </a:tcPr>
                </a:tc>
              </a:tr>
              <a:tr h="4611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核心问题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如何自主完成任务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如何在真实仓库里改对代码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如何组织模型之外的那套系统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评价方式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任务成功率、长程时长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SWE-bench / Terminal-Bench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同模型换 harness 的分差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主要瓶颈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上下文与可靠性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跨仓库、需求模糊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成本与可复现性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069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当前共识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内核已收敛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反馈信号比自主决策更重要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harness 效应在上下文压力下放大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118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未解决问题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长程可靠性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评测污染与饱和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zh-CN" altLang="en-US" sz="14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宋体" pitchFamily="2" charset="-122"/>
                          <a:cs typeface="Times New Roman" pitchFamily="34" charset="-120"/>
                        </a:rPr>
                        <a:t>术语与报告规范未统一</a:t>
                      </a:r>
                      <a:endParaRPr lang="en-US" sz="1400" dirty="0">
                        <a:latin typeface="Times New Roman" charset="0"/>
                        <a:ea typeface="宋体" pitchFamily="2" charset="-122"/>
                        <a:cs typeface="Times New Roman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502920" y="5643372"/>
            <a:ext cx="11185855" cy="757428"/>
          </a:xfrm>
          <a:prstGeom prst="rect">
            <a:avLst/>
          </a:prstGeom>
          <a:solidFill>
            <a:srgbClr val="DCE9D5"/>
          </a:solidFill>
          <a:ln w="12700">
            <a:solidFill>
              <a:srgbClr val="9DBE8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 flipV="1">
            <a:off x="502920" y="5643372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6" name="Shape 12"/>
          <p:cNvSpPr/>
          <p:nvPr/>
        </p:nvSpPr>
        <p:spPr>
          <a:xfrm flipH="1">
            <a:off x="11542471" y="6254496"/>
            <a:ext cx="146304" cy="146304"/>
          </a:xfrm>
          <a:prstGeom prst="rtTriangle">
            <a:avLst/>
          </a:prstGeom>
          <a:solidFill>
            <a:srgbClr val="9DBE86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5716524"/>
            <a:ext cx="10637215" cy="6111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三条线其实是一条线：通用 agent 提出了那个循环，编码 agent 提供了可验证的战场，而 harness 解释了为什么同一个模型换个战场上分数会差这么多。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值得讨论的问题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来源：Zenodo DOI 10.5281/zenodo.19819492 与 ICML 2026 poster；arXiv:2608.26218；Anthropic Claude 4 方法学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4630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问题</a:t>
            </a:r>
            <a:endParaRPr lang="en-US" sz="2000" dirty="0"/>
          </a:p>
          <a:p>
            <a:pPr algn="ctr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讨论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600200" y="1463040"/>
            <a:ext cx="10088575" cy="777240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12" name="Text 9"/>
          <p:cNvSpPr/>
          <p:nvPr/>
        </p:nvSpPr>
        <p:spPr>
          <a:xfrm>
            <a:off x="1801368" y="1508760"/>
            <a:ext cx="97228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7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•  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有几处数字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彼此冲突</a:t>
            </a:r>
            <a:pPr algn="l" indent="0" marL="0">
              <a:spcAft>
                <a:spcPts val="200"/>
              </a:spcAft>
              <a:buNone/>
            </a:pPr>
            <a:r>
              <a:rPr lang="zh-CN" altLang="en-US" sz="17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，写进报告前必须先对齐口径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85800" y="259003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255117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同一个研究，两个版本不一致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Version conflict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371600" y="304228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6" name="Text 13"/>
          <p:cNvSpPr/>
          <p:nvPr/>
        </p:nvSpPr>
        <p:spPr>
          <a:xfrm>
            <a:off x="1645920" y="299923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The Scaffold Effect：Zenodo 版写 pass-rate 差 2–10 pp，ICML poster 版写 0–8 pp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371600" y="34080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8" name="Text 15"/>
          <p:cNvSpPr/>
          <p:nvPr/>
        </p:nvSpPr>
        <p:spPr>
          <a:xfrm>
            <a:off x="1645920" y="33649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本 PPT 统一采用 Zenodo 版（有 DOI），并在此声明差异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5800" y="387019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383133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一个很容易被忽略的反例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counterexample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1371600" y="432244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2" name="Text 19"/>
          <p:cNvSpPr/>
          <p:nvPr/>
        </p:nvSpPr>
        <p:spPr>
          <a:xfrm>
            <a:off x="1645920" y="427939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context 不受限时，改 harness 在 Verified 上的差值只有 −0.3 pp（95% CI 含 0）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1371600" y="468820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4" name="Text 21"/>
          <p:cNvSpPr/>
          <p:nvPr/>
        </p:nvSpPr>
        <p:spPr>
          <a:xfrm>
            <a:off x="1645920" y="464515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只讲 28% → 49% 会系统性高估 harness 的普适影响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685800" y="5150358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5840" y="5111496"/>
            <a:ext cx="106829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8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证据等级与分母问题</a:t>
            </a:r>
            <a:pPr algn="l" indent="0" marL="0">
              <a:buNone/>
            </a:pPr>
            <a:r>
              <a:rPr lang="en-US" altLang="en-US" sz="15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Evidence grading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1371600" y="560260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8" name="Text 25"/>
          <p:cNvSpPr/>
          <p:nvPr/>
        </p:nvSpPr>
        <p:spPr>
          <a:xfrm>
            <a:off x="1645920" y="555955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一章 21 个关键数字中，13 个来自 2026 年预印本或 workshop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1371600" y="596836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30" name="Text 27"/>
          <p:cNvSpPr/>
          <p:nvPr/>
        </p:nvSpPr>
        <p:spPr>
          <a:xfrm>
            <a:off x="1645920" y="5925312"/>
            <a:ext cx="10042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5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跨厂商分母不一致：Anthropic 指出 OpenAI 按 477 题子集报告 Verified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目  录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10312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8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CONTENTS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2404872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311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背景：从 LLM 到 Agent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Background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2971800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9806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编码智能体：第一个杀手场景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Coding Agents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3538728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6499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Harness：被当作模型能力的那一半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The Harness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" y="4105656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31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评测：分数在测量什么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Evaluation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" y="4672584"/>
            <a:ext cx="219456" cy="219456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49884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对比与思考</a:t>
            </a:r>
            <a:pPr algn="l" indent="0" marL="0">
              <a:buNone/>
            </a:pPr>
            <a:r>
              <a:rPr lang="en-US" altLang="en-US" sz="1800" i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Discussion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77240" y="5239512"/>
            <a:ext cx="219456" cy="219456"/>
          </a:xfrm>
          <a:prstGeom prst="rect">
            <a:avLst/>
          </a:prstGeom>
          <a:ln w="254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06577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2200" b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pPr algn="l" indent="0" marL="0">
              <a:buNone/>
            </a:pPr>
            <a:r>
              <a:rPr lang="en-US" altLang="en-US" sz="1800" b="1" i="1" dirty="0">
                <a:solidFill>
                  <a:srgbClr val="C62828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Future Directions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146304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170432"/>
            <a:ext cx="11551615" cy="27432"/>
          </a:xfrm>
          <a:prstGeom prst="rect">
            <a:avLst/>
          </a:prstGeom>
          <a:solidFill>
            <a:srgbClr val="E8E2F5"/>
          </a:solidFill>
          <a:ln/>
        </p:spPr>
      </p:sp>
      <p:sp>
        <p:nvSpPr>
          <p:cNvPr id="4" name="Text 2"/>
          <p:cNvSpPr/>
          <p:nvPr/>
        </p:nvSpPr>
        <p:spPr>
          <a:xfrm>
            <a:off x="8259775" y="320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altLang="en-US" sz="1100" b="1" dirty="0">
                <a:solidFill>
                  <a:srgbClr val="4527A0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Agent · Harness</a:t>
            </a:r>
            <a:pPr algn="r" indent="0" marL="0">
              <a:buNone/>
            </a:pPr>
            <a:r>
              <a:rPr lang="en-US" alt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|   </a:t>
            </a:r>
            <a:pPr algn="r" indent="0" marL="0">
              <a:buNone/>
            </a:pPr>
            <a:r>
              <a:rPr lang="en-US" altLang="en-US" sz="11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SURVEY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7619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32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未来方向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505895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32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1000" i="1" dirty="0">
                <a:solidFill>
                  <a:srgbClr val="999999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来源：arXiv:2603.28052 / 2604.25850 / 2608.00267 / 2610.29458 / 2509.16941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740967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686611"/>
            <a:ext cx="1068293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Harness 的自动优化与其泛化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Automated harness optimization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2180895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2130095"/>
            <a:ext cx="10042855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Meta-Harness、AHE 已能超过人类设计，但自主改进难以泛化（适应鸿沟）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2687371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33015"/>
            <a:ext cx="1068293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从 harness engineering 到 loop engineering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Loop engineering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371600" y="3127299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5" name="Text 13"/>
          <p:cNvSpPr/>
          <p:nvPr/>
        </p:nvSpPr>
        <p:spPr>
          <a:xfrm>
            <a:off x="1645920" y="3076499"/>
            <a:ext cx="10042855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评价对象从「工具怎么配」上升到「循环怎么设计」（LoopsBench）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" y="3633775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579419"/>
            <a:ext cx="1068293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跨 harness 的鲁棒性训练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Harness-robust training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371600" y="4073703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19" name="Text 17"/>
          <p:cNvSpPr/>
          <p:nvPr/>
        </p:nvSpPr>
        <p:spPr>
          <a:xfrm>
            <a:off x="1645920" y="4022903"/>
            <a:ext cx="10042855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在多样 harness 空间上做 agentic RL，让模型能力不依赖单一脚手架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5800" y="4580179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525823"/>
            <a:ext cx="1068293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评测转向长程与抗污染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Long-horizon, contamination-resistant evals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371600" y="5020107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3" name="Text 21"/>
          <p:cNvSpPr/>
          <p:nvPr/>
        </p:nvSpPr>
        <p:spPr>
          <a:xfrm>
            <a:off x="1645920" y="4969307"/>
            <a:ext cx="10042855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SWE-Bench Pro、Terminal-Bench 3.0/4.0、METR time-horizon 均以此为设计目标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5526583"/>
            <a:ext cx="201168" cy="201168"/>
          </a:xfrm>
          <a:prstGeom prst="rect">
            <a:avLst/>
          </a:prstGeom>
          <a:ln w="25400">
            <a:solidFill>
              <a:srgbClr val="452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472227"/>
            <a:ext cx="10682935" cy="397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报告规范的统一</a:t>
            </a:r>
            <a:pPr algn="l" indent="0" marL="0">
              <a:buNone/>
            </a:pPr>
            <a:r>
              <a:rPr lang="en-US" altLang="en-US" sz="1700" i="1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   Reporting standards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371600" y="5966511"/>
            <a:ext cx="146304" cy="146304"/>
          </a:xfrm>
          <a:prstGeom prst="rtTriangle">
            <a:avLst/>
          </a:prstGeom>
          <a:solidFill>
            <a:srgbClr val="4527A0"/>
          </a:solidFill>
          <a:ln/>
        </p:spPr>
      </p:sp>
      <p:sp>
        <p:nvSpPr>
          <p:cNvPr id="27" name="Text 25"/>
          <p:cNvSpPr/>
          <p:nvPr/>
        </p:nvSpPr>
        <p:spPr>
          <a:xfrm>
            <a:off x="1645920" y="5915711"/>
            <a:ext cx="10042855" cy="316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CN" altLang="en-US" sz="1600" dirty="0">
                <a:solidFill>
                  <a:srgbClr val="1A1A1A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变体、harness、pass@k 与推理预算必须同时公开，否则分数不可比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5200" b="1" spc="1000" kern="0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谢 谢 聆 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200" i="1" dirty="0">
                <a:solidFill>
                  <a:srgbClr val="FFFFFF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Thank You  &amp;  Questions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38648" y="173736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6" name="Shape 4"/>
          <p:cNvSpPr/>
          <p:nvPr/>
        </p:nvSpPr>
        <p:spPr>
          <a:xfrm>
            <a:off x="5638648" y="5074920"/>
            <a:ext cx="914400" cy="54864"/>
          </a:xfrm>
          <a:prstGeom prst="rect">
            <a:avLst/>
          </a:prstGeom>
          <a:solidFill>
            <a:srgbClr val="4527A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555555"/>
                </a:solidFill>
                <a:latin typeface="Times New Roman" pitchFamily="34" charset="0"/>
                <a:ea typeface="宋体" pitchFamily="2" charset="-122"/>
                <a:cs typeface="Times New Roman" pitchFamily="34" charset="-120"/>
              </a:rPr>
              <a:t>欢迎批评指正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与 Harness 方向综述</dc:title>
  <dc:subject>PptxGenJS Presentation</dc:subject>
  <dc:creator>[ 汇报人姓名 ]</dc:creator>
  <cp:lastModifiedBy>[ 汇报人姓名 ]</cp:lastModifiedBy>
  <cp:revision>1</cp:revision>
  <dcterms:created xsi:type="dcterms:W3CDTF">2026-10-23T15:52:44Z</dcterms:created>
  <dcterms:modified xsi:type="dcterms:W3CDTF">2026-10-23T15:52:44Z</dcterms:modified>
</cp:coreProperties>
</file>